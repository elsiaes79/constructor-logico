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rminator 2"/>
          <p:cNvSpPr/>
          <p:nvPr/>
        </p:nvSpPr>
        <p:spPr>
          <a:xfrm>
            <a:off x="8503920" y="914400"/>
            <a:ext cx="2377440" cy="685800"/>
          </a:xfrm>
          <a:prstGeom prst="flowChartTerminator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120"/>
                </a:solidFill>
                <a:latin typeface="Segoe UI"/>
              </a:rPr>
              <a:t>Inicio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692640" y="1600200"/>
            <a:ext cx="0" cy="365760"/>
          </a:xfrm>
          <a:prstGeom prst="line">
            <a:avLst/>
          </a:prstGeom>
          <a:ln w="19050">
            <a:solidFill>
              <a:srgbClr val="9AA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a 4"/>
          <p:cNvSpPr/>
          <p:nvPr/>
        </p:nvSpPr>
        <p:spPr>
          <a:xfrm>
            <a:off x="8503920" y="1965960"/>
            <a:ext cx="2377440" cy="685800"/>
          </a:xfrm>
          <a:prstGeom prst="flowChartInputOutput">
            <a:avLst/>
          </a:prstGeom>
          <a:solidFill>
            <a:srgbClr val="8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120"/>
                </a:solidFill>
                <a:latin typeface="Segoe UI"/>
              </a:rPr>
              <a:t>Leer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92640" y="2651760"/>
            <a:ext cx="0" cy="365760"/>
          </a:xfrm>
          <a:prstGeom prst="line">
            <a:avLst/>
          </a:prstGeom>
          <a:ln w="19050">
            <a:solidFill>
              <a:srgbClr val="9AA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03920" y="3017520"/>
            <a:ext cx="2377440" cy="685800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120"/>
                </a:solidFill>
                <a:latin typeface="Segoe UI"/>
              </a:rPr>
              <a:t>Proceso y D.V.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92640" y="3703320"/>
            <a:ext cx="0" cy="365759"/>
          </a:xfrm>
          <a:prstGeom prst="line">
            <a:avLst/>
          </a:prstGeom>
          <a:ln w="19050">
            <a:solidFill>
              <a:srgbClr val="9AA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8503920" y="4069079"/>
            <a:ext cx="2377440" cy="685800"/>
          </a:xfrm>
          <a:prstGeom prst="diamond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120"/>
                </a:solidFill>
                <a:latin typeface="Segoe UI"/>
              </a:rPr>
              <a:t>¿?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0" y="4754879"/>
            <a:ext cx="0" cy="365761"/>
          </a:xfrm>
          <a:prstGeom prst="line">
            <a:avLst/>
          </a:prstGeom>
          <a:ln w="19050">
            <a:solidFill>
              <a:srgbClr val="9AA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rminator 10"/>
          <p:cNvSpPr/>
          <p:nvPr/>
        </p:nvSpPr>
        <p:spPr>
          <a:xfrm>
            <a:off x="8503920" y="5120640"/>
            <a:ext cx="2377440" cy="685800"/>
          </a:xfrm>
          <a:prstGeom prst="flowChartTerminator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120"/>
                </a:solidFill>
                <a:latin typeface="Segoe UI"/>
              </a:rPr>
              <a:t>Fin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4B740"/>
                </a:solidFill>
                <a:latin typeface="Consolas"/>
              </a:rPr>
              <a:t>MANUAL DE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19"/>
            <a:ext cx="75895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b="1" sz="4800">
                <a:solidFill>
                  <a:srgbClr val="F2F5FA"/>
                </a:solidFill>
                <a:latin typeface="Segoe UI"/>
              </a:rPr>
              <a:t>Constructor</a:t>
            </a:r>
          </a:p>
          <a:p>
            <a:pPr algn="l">
              <a:lnSpc>
                <a:spcPct val="95000"/>
              </a:lnSpc>
            </a:pPr>
            <a:r>
              <a:rPr b="1" sz="4800">
                <a:solidFill>
                  <a:srgbClr val="F2F5FA"/>
                </a:solidFill>
                <a:latin typeface="Segoe UI"/>
              </a:rPr>
              <a:t>Lógico · Modular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>
                <a:solidFill>
                  <a:srgbClr val="9AA8C7"/>
                </a:solidFill>
                <a:latin typeface="Segoe UI"/>
              </a:rPr>
              <a:t>Guía paso a paso para construir diagramas de flujo, generar pseudocódigo y probar tus algoritmos.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6583680" cy="548640"/>
          </a:xfrm>
          <a:prstGeom prst="roundRect">
            <a:avLst>
              <a:gd name="adj" fmla="val 30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65836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1600">
                <a:solidFill>
                  <a:srgbClr val="45D6C3"/>
                </a:solidFill>
                <a:latin typeface="Consolas"/>
              </a:rPr>
              <a:t>https://elsiaes79.github.io/Constructor-logico/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Consolas"/>
              </a:rPr>
              <a:t>Simbología ISO/ANSI (Cuadernillo LCC) · Diseño modular Top-Down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¿Qué es y cómo abrirlo?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Conoce la pantalla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1 · Escribe tu nombre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2 · Los símbolos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49039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39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3 · Agrega y llena símbolos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4 · Condicionales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463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5 · Ciclos y Según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94960"/>
            <a:ext cx="365760" cy="365760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94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6 · Mover, copiar y eliminar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7 · El pseudocódigo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10312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8 · Verifica tu programa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65176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9 · Prueba de escritorio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10 · Ejecuta en la terminal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749039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39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11 · Programas con módulos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29768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97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Paso 12 · Guarda tu trabajo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484632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463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Tu progreso: XP e insignias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539496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94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>
                <a:solidFill>
                  <a:srgbClr val="F2F5FA"/>
                </a:solidFill>
                <a:latin typeface="Segoe UI"/>
              </a:rPr>
              <a:t>Para docentes · Gestionar alumnos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¿Qué es el Constructor Lógico?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Una aplicación web para </a:t>
            </a:r>
            <a:r>
              <a:rPr b="1" sz="1700">
                <a:solidFill>
                  <a:srgbClr val="45D6C3"/>
                </a:solidFill>
                <a:latin typeface="Segoe UI"/>
              </a:rPr>
              <a:t>armar diagramas de flujo</a:t>
            </a:r>
            <a:r>
              <a:rPr b="0" sz="1700">
                <a:solidFill>
                  <a:srgbClr val="F2F5FA"/>
                </a:solidFill>
                <a:latin typeface="Segoe UI"/>
              </a:rPr>
              <a:t> con los símbolos ISO/ANSI del Cuadernillo LCC.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Mientras construyes, genera automáticamente el </a:t>
            </a:r>
            <a:r>
              <a:rPr b="1" sz="1700">
                <a:solidFill>
                  <a:srgbClr val="45D6C3"/>
                </a:solidFill>
                <a:latin typeface="Segoe UI"/>
              </a:rPr>
              <a:t>pseudocódigo</a:t>
            </a:r>
            <a:r>
              <a:rPr b="0" sz="1700">
                <a:solidFill>
                  <a:srgbClr val="F2F5FA"/>
                </a:solidFill>
                <a:latin typeface="Segoe UI"/>
              </a:rPr>
              <a:t> equivalente.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Puedes </a:t>
            </a:r>
            <a:r>
              <a:rPr b="1" sz="1700">
                <a:solidFill>
                  <a:srgbClr val="45D6C3"/>
                </a:solidFill>
                <a:latin typeface="Segoe UI"/>
              </a:rPr>
              <a:t>verificar</a:t>
            </a:r>
            <a:r>
              <a:rPr b="0" sz="1700">
                <a:solidFill>
                  <a:srgbClr val="F2F5FA"/>
                </a:solidFill>
                <a:latin typeface="Segoe UI"/>
              </a:rPr>
              <a:t>, hacer la </a:t>
            </a:r>
            <a:r>
              <a:rPr b="1" sz="1700">
                <a:solidFill>
                  <a:srgbClr val="45D6C3"/>
                </a:solidFill>
                <a:latin typeface="Segoe UI"/>
              </a:rPr>
              <a:t>prueba de escritorio</a:t>
            </a:r>
            <a:r>
              <a:rPr b="0" sz="1700">
                <a:solidFill>
                  <a:srgbClr val="F2F5FA"/>
                </a:solidFill>
                <a:latin typeface="Segoe UI"/>
              </a:rPr>
              <a:t> y </a:t>
            </a:r>
            <a:r>
              <a:rPr b="1" sz="1700">
                <a:solidFill>
                  <a:srgbClr val="45D6C3"/>
                </a:solidFill>
                <a:latin typeface="Segoe UI"/>
              </a:rPr>
              <a:t>ejecutar</a:t>
            </a:r>
            <a:r>
              <a:rPr b="0" sz="1700">
                <a:solidFill>
                  <a:srgbClr val="F2F5FA"/>
                </a:solidFill>
                <a:latin typeface="Segoe UI"/>
              </a:rPr>
              <a:t> tu algoritmo como en una terminal.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Permite dividir la solución en </a:t>
            </a:r>
            <a:r>
              <a:rPr b="1" sz="1700">
                <a:solidFill>
                  <a:srgbClr val="45D6C3"/>
                </a:solidFill>
                <a:latin typeface="Segoe UI"/>
              </a:rPr>
              <a:t>módulos</a:t>
            </a:r>
            <a:r>
              <a:rPr b="0" sz="1700">
                <a:solidFill>
                  <a:srgbClr val="F2F5FA"/>
                </a:solidFill>
                <a:latin typeface="Segoe UI"/>
              </a:rPr>
              <a:t> (subprogramas), siguiendo el diseño Top-Down.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Funciona en computadora, tableta y celular; no necesita instalar 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554480"/>
            <a:ext cx="4846320" cy="3291840"/>
          </a:xfrm>
          <a:prstGeom prst="roundRect">
            <a:avLst>
              <a:gd name="adj" fmla="val 6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389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CÓMO ABRIRLO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148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1.  </a:t>
            </a:r>
            <a:r>
              <a:rPr b="0" sz="1500">
                <a:solidFill>
                  <a:srgbClr val="F2F5FA"/>
                </a:solidFill>
                <a:latin typeface="Segoe UI"/>
              </a:rPr>
              <a:t>Abre tu navegador (Chrome, Edge, Safari…).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2.  </a:t>
            </a:r>
            <a:r>
              <a:rPr b="0" sz="1500">
                <a:solidFill>
                  <a:srgbClr val="F2F5FA"/>
                </a:solidFill>
                <a:latin typeface="Segoe UI"/>
              </a:rPr>
              <a:t>Escribe la dirección: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0" sz="1300">
                <a:solidFill>
                  <a:srgbClr val="9AA8C7"/>
                </a:solidFill>
                <a:latin typeface="Segoe UI"/>
              </a:rPr>
              <a:t>      –  </a:t>
            </a:r>
            <a:r>
              <a:rPr b="0" sz="1300">
                <a:solidFill>
                  <a:srgbClr val="9AA8C7"/>
                </a:solidFill>
                <a:latin typeface="Segoe UI"/>
              </a:rPr>
              <a:t>https://elsiaes79.github.io/Constructor-logico/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3.  </a:t>
            </a:r>
            <a:r>
              <a:rPr b="0" sz="1500">
                <a:solidFill>
                  <a:srgbClr val="F2F5FA"/>
                </a:solidFill>
                <a:latin typeface="Segoe UI"/>
              </a:rPr>
              <a:t>¡Listo! La herramienta se carga vacía y lista para empezar.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029200"/>
            <a:ext cx="4846320" cy="100584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5120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2555A"/>
                </a:solidFill>
                <a:latin typeface="Consolas"/>
              </a:rPr>
              <a:t>IMPORTANTE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376672"/>
            <a:ext cx="448055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El trabajo </a:t>
            </a:r>
            <a:r>
              <a:rPr b="1" sz="1300">
                <a:solidFill>
                  <a:srgbClr val="45D6C3"/>
                </a:solidFill>
                <a:latin typeface="Segoe UI"/>
              </a:rPr>
              <a:t>no se guarda solo</a:t>
            </a:r>
            <a:r>
              <a:rPr b="0" sz="1300">
                <a:solidFill>
                  <a:srgbClr val="F2F5FA"/>
                </a:solidFill>
                <a:latin typeface="Segoe UI"/>
              </a:rPr>
              <a:t>. Usa </a:t>
            </a:r>
            <a:r>
              <a:rPr b="1" sz="1300">
                <a:solidFill>
                  <a:srgbClr val="45D6C3"/>
                </a:solidFill>
                <a:latin typeface="Segoe UI"/>
              </a:rPr>
              <a:t>Exportar</a:t>
            </a:r>
            <a:r>
              <a:rPr b="0" sz="1300">
                <a:solidFill>
                  <a:srgbClr val="F2F5FA"/>
                </a:solidFill>
                <a:latin typeface="Segoe UI"/>
              </a:rPr>
              <a:t> antes de cerrar la página (Paso 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VISTA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Conoce la pantalla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531" y="1280160"/>
            <a:ext cx="7581737" cy="5120640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51" y="1325880"/>
            <a:ext cx="7490297" cy="50292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010905" y="1480744"/>
            <a:ext cx="310896" cy="310896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539596" y="1828508"/>
            <a:ext cx="310896" cy="310896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007024" y="1828508"/>
            <a:ext cx="310896" cy="310896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7852847" y="1641250"/>
            <a:ext cx="310896" cy="310896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0" y="137160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53312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45D6C3"/>
                </a:solidFill>
                <a:latin typeface="Segoe UI"/>
              </a:rPr>
              <a:t>Encabezado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00784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Nombre del estudiante, luces de estado (Error / Construyendo / Válido) y botones Exportar, Importar y Gestionar alumnos.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260604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87752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45D6C3"/>
                </a:solidFill>
                <a:latin typeface="Segoe UI"/>
              </a:rPr>
              <a:t>Símbolos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935224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El teclado con todos los símbolos del diagrama, el indicador de dónde se agregan y el bote para eliminar.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384048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822192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45D6C3"/>
                </a:solidFill>
                <a:latin typeface="Segoe UI"/>
              </a:rPr>
              <a:t>Área de construcción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69664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Aquí se dibuja el diagrama. Arriba están las pestañas de módulos.</a:t>
            </a:r>
          </a:p>
        </p:txBody>
      </p:sp>
      <p:sp>
        <p:nvSpPr>
          <p:cNvPr id="22" name="Oval 21"/>
          <p:cNvSpPr/>
          <p:nvPr/>
        </p:nvSpPr>
        <p:spPr>
          <a:xfrm>
            <a:off x="8458200" y="5074920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120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056632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45D6C3"/>
                </a:solidFill>
                <a:latin typeface="Segoe UI"/>
              </a:rPr>
              <a:t>Pseudocódigo y pruebas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404104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Pseudocódigo generado, Verificar, Prueba de escritorio, Ejecutar y tu progreso (XP).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Escribe tu nombre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Lo primero es identificarte: tu nombre viaja dentro del archivo que exportes.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832718"/>
            <a:ext cx="11155680" cy="723682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8438"/>
            <a:ext cx="11064240" cy="6322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01752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Haz clic en el recuadro que dice </a:t>
            </a:r>
            <a:r>
              <a:rPr b="1" sz="1700">
                <a:solidFill>
                  <a:srgbClr val="45D6C3"/>
                </a:solidFill>
                <a:latin typeface="Segoe UI"/>
              </a:rPr>
              <a:t>Estudiante</a:t>
            </a:r>
            <a:r>
              <a:rPr b="0" sz="1700">
                <a:solidFill>
                  <a:srgbClr val="F2F5FA"/>
                </a:solidFill>
                <a:latin typeface="Segoe UI"/>
              </a:rPr>
              <a:t> (parte superior).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Borra el texto y escribe tu </a:t>
            </a:r>
            <a:r>
              <a:rPr b="1" sz="1700">
                <a:solidFill>
                  <a:srgbClr val="45D6C3"/>
                </a:solidFill>
                <a:latin typeface="Segoe UI"/>
              </a:rPr>
              <a:t>nombre completo</a:t>
            </a:r>
            <a:r>
              <a:rPr b="0" sz="17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700">
                <a:solidFill>
                  <a:srgbClr val="F2F5FA"/>
                </a:solidFill>
                <a:latin typeface="Segoe UI"/>
              </a:rPr>
              <a:t>Tu nombre aparecerá en los mensajes de verificación y en el archivo exportado, para que tu docente sepa de quién 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017520"/>
            <a:ext cx="4663440" cy="2651760"/>
          </a:xfrm>
          <a:prstGeom prst="roundRect">
            <a:avLst>
              <a:gd name="adj" fmla="val 6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154680"/>
            <a:ext cx="4206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LUCES DE ESTADO</a:t>
            </a:r>
          </a:p>
        </p:txBody>
      </p:sp>
      <p:sp>
        <p:nvSpPr>
          <p:cNvPr id="13" name="Oval 12"/>
          <p:cNvSpPr/>
          <p:nvPr/>
        </p:nvSpPr>
        <p:spPr>
          <a:xfrm>
            <a:off x="7269480" y="3685032"/>
            <a:ext cx="256032" cy="256032"/>
          </a:xfrm>
          <a:prstGeom prst="ellipse">
            <a:avLst/>
          </a:prstGeom>
          <a:solidFill>
            <a:srgbClr val="F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61188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2F5FA"/>
                </a:solidFill>
                <a:latin typeface="Segoe UI"/>
              </a:rPr>
              <a:t>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39312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La verificación encontró problemas.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4325112"/>
            <a:ext cx="256032" cy="256032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25196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2F5FA"/>
                </a:solidFill>
                <a:latin typeface="Segoe UI"/>
              </a:rPr>
              <a:t>Construyendo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79392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Estás editando el diagrama.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4965192"/>
            <a:ext cx="256032" cy="256032"/>
          </a:xfrm>
          <a:prstGeom prst="ellipse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892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2F5FA"/>
                </a:solidFill>
                <a:latin typeface="Segoe UI"/>
              </a:rPr>
              <a:t>Válido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919472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El programa pasó la verificación.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Los símbolos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Cada tecla del panel Símbolos agrega una figura al diagrama.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2700" y="1737360"/>
            <a:ext cx="1503639" cy="4617720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y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20" y="1783080"/>
            <a:ext cx="1412199" cy="4526280"/>
          </a:xfrm>
          <a:prstGeom prst="rect">
            <a:avLst/>
          </a:prstGeom>
        </p:spPr>
      </p:pic>
      <p:sp>
        <p:nvSpPr>
          <p:cNvPr id="10" name="Terminator 9"/>
          <p:cNvSpPr/>
          <p:nvPr/>
        </p:nvSpPr>
        <p:spPr>
          <a:xfrm>
            <a:off x="3566160" y="1828800"/>
            <a:ext cx="777240" cy="365760"/>
          </a:xfrm>
          <a:prstGeom prst="flowChartTerminator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Inicio / Fin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83080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Óvalo: marca dónde empieza y termina cada módulo.</a:t>
            </a:r>
          </a:p>
        </p:txBody>
      </p:sp>
      <p:sp>
        <p:nvSpPr>
          <p:cNvPr id="13" name="Data 12"/>
          <p:cNvSpPr/>
          <p:nvPr/>
        </p:nvSpPr>
        <p:spPr>
          <a:xfrm>
            <a:off x="3566160" y="2322576"/>
            <a:ext cx="777240" cy="365760"/>
          </a:xfrm>
          <a:prstGeom prst="flowChartInputOutput">
            <a:avLst/>
          </a:prstGeom>
          <a:solidFill>
            <a:srgbClr val="8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76856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Leer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276856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Paralelogramo: pide datos al usuario. Ej. </a:t>
            </a:r>
            <a:r>
              <a:rPr b="0" sz="1200">
                <a:solidFill>
                  <a:srgbClr val="F4B740"/>
                </a:solidFill>
                <a:latin typeface="Consolas"/>
              </a:rPr>
              <a:t>cve, ht, pht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816352"/>
            <a:ext cx="777240" cy="365760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770632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Proceso y D.V.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70632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Rectángulo: cálculos y asignaciones. Ej. </a:t>
            </a:r>
            <a:r>
              <a:rPr b="0" sz="1200">
                <a:solidFill>
                  <a:srgbClr val="F4B740"/>
                </a:solidFill>
                <a:latin typeface="Consolas"/>
              </a:rPr>
              <a:t>sueldo = ht * pht</a:t>
            </a:r>
          </a:p>
        </p:txBody>
      </p:sp>
      <p:sp>
        <p:nvSpPr>
          <p:cNvPr id="19" name="Diamond 18"/>
          <p:cNvSpPr/>
          <p:nvPr/>
        </p:nvSpPr>
        <p:spPr>
          <a:xfrm>
            <a:off x="3566160" y="3310128"/>
            <a:ext cx="777240" cy="365760"/>
          </a:xfrm>
          <a:prstGeom prst="diamond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264408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Condicional / Para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6440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Rombo: decisión doble o simple, y el ciclo Para.</a:t>
            </a:r>
          </a:p>
        </p:txBody>
      </p:sp>
      <p:sp>
        <p:nvSpPr>
          <p:cNvPr id="22" name="Hexagon 21"/>
          <p:cNvSpPr/>
          <p:nvPr/>
        </p:nvSpPr>
        <p:spPr>
          <a:xfrm>
            <a:off x="3566160" y="3803904"/>
            <a:ext cx="777240" cy="365760"/>
          </a:xfrm>
          <a:prstGeom prst="hexagon">
            <a:avLst/>
          </a:prstGeom>
          <a:solidFill>
            <a:srgbClr val="7FD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758184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Mientras / Hacer-M. / Según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58184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Hexágono: ciclos con condición y selectiva múltiple.</a:t>
            </a:r>
          </a:p>
        </p:txBody>
      </p:sp>
      <p:sp>
        <p:nvSpPr>
          <p:cNvPr id="25" name="Rounded Rectangular Callout 24"/>
          <p:cNvSpPr/>
          <p:nvPr/>
        </p:nvSpPr>
        <p:spPr>
          <a:xfrm>
            <a:off x="3566160" y="4297680"/>
            <a:ext cx="777240" cy="365760"/>
          </a:xfrm>
          <a:prstGeom prst="wedgeRoundRectCallout">
            <a:avLst/>
          </a:prstGeom>
          <a:solidFill>
            <a:srgbClr val="F3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251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Imprimir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251960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Burbuja de mensaje: muestra resultados. Ej. </a:t>
            </a:r>
            <a:r>
              <a:rPr b="0" sz="1200">
                <a:solidFill>
                  <a:srgbClr val="F4B740"/>
                </a:solidFill>
                <a:latin typeface="Consolas"/>
              </a:rPr>
              <a:t>cve, sueldo</a:t>
            </a:r>
          </a:p>
        </p:txBody>
      </p:sp>
      <p:sp>
        <p:nvSpPr>
          <p:cNvPr id="28" name="Oval 27"/>
          <p:cNvSpPr/>
          <p:nvPr/>
        </p:nvSpPr>
        <p:spPr>
          <a:xfrm>
            <a:off x="3566160" y="4791456"/>
            <a:ext cx="777240" cy="365760"/>
          </a:xfrm>
          <a:prstGeom prst="ellipse">
            <a:avLst/>
          </a:prstGeom>
          <a:solidFill>
            <a:srgbClr val="9A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745736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Conector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745736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Círculo: une partes del diagrama en la misma página.</a:t>
            </a:r>
          </a:p>
        </p:txBody>
      </p:sp>
      <p:sp>
        <p:nvSpPr>
          <p:cNvPr id="31" name="Off-page Connector 30"/>
          <p:cNvSpPr/>
          <p:nvPr/>
        </p:nvSpPr>
        <p:spPr>
          <a:xfrm>
            <a:off x="3566160" y="5285232"/>
            <a:ext cx="777240" cy="365760"/>
          </a:xfrm>
          <a:prstGeom prst="flowChartOffpageConnector">
            <a:avLst/>
          </a:prstGeom>
          <a:solidFill>
            <a:srgbClr val="9A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239512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Conector pág.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239512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Pentágono: une partes que están en otra página.</a:t>
            </a:r>
          </a:p>
        </p:txBody>
      </p:sp>
      <p:sp>
        <p:nvSpPr>
          <p:cNvPr id="34" name="Predefined Process 33"/>
          <p:cNvSpPr/>
          <p:nvPr/>
        </p:nvSpPr>
        <p:spPr>
          <a:xfrm>
            <a:off x="3566160" y="5779008"/>
            <a:ext cx="777240" cy="365760"/>
          </a:xfrm>
          <a:prstGeom prst="flowChartPredefinedProcess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733288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400">
                <a:solidFill>
                  <a:srgbClr val="F2F5FA"/>
                </a:solidFill>
                <a:latin typeface="Segoe UI"/>
              </a:rPr>
              <a:t>Llamar módulo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73328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9AA8C7"/>
                </a:solidFill>
                <a:latin typeface="Segoe UI"/>
              </a:rPr>
              <a:t>Doble barra: ejecuta otro módulo (subprograma).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Agrega y llena los símbolos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1.  </a:t>
            </a:r>
            <a:r>
              <a:rPr b="1" sz="1600">
                <a:solidFill>
                  <a:srgbClr val="45D6C3"/>
                </a:solidFill>
                <a:latin typeface="Segoe UI"/>
              </a:rPr>
              <a:t>Elige dónde agregar.</a:t>
            </a:r>
            <a:r>
              <a:rPr b="0" sz="1600">
                <a:solidFill>
                  <a:srgbClr val="F2F5FA"/>
                </a:solidFill>
                <a:latin typeface="Segoe UI"/>
              </a:rPr>
              <a:t> Toca la secuencia principal o una rama. El recuadro </a:t>
            </a:r>
            <a:r>
              <a:rPr b="1" sz="1600">
                <a:solidFill>
                  <a:srgbClr val="45D6C3"/>
                </a:solidFill>
                <a:latin typeface="Segoe UI"/>
              </a:rPr>
              <a:t>Agregando en:</a:t>
            </a:r>
            <a:r>
              <a:rPr b="0" sz="1600">
                <a:solidFill>
                  <a:srgbClr val="F2F5FA"/>
                </a:solidFill>
                <a:latin typeface="Segoe UI"/>
              </a:rPr>
              <a:t> te dice el lugar activo.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2.  </a:t>
            </a:r>
            <a:r>
              <a:rPr b="1" sz="1600">
                <a:solidFill>
                  <a:srgbClr val="45D6C3"/>
                </a:solidFill>
                <a:latin typeface="Segoe UI"/>
              </a:rPr>
              <a:t>Toca una tecla</a:t>
            </a:r>
            <a:r>
              <a:rPr b="0" sz="1600">
                <a:solidFill>
                  <a:srgbClr val="F2F5FA"/>
                </a:solidFill>
                <a:latin typeface="Segoe UI"/>
              </a:rPr>
              <a:t> del panel Símbolos: la figura se agrega al final de ese lugar.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0" sz="1400">
                <a:solidFill>
                  <a:srgbClr val="9AA8C7"/>
                </a:solidFill>
                <a:latin typeface="Segoe UI"/>
              </a:rPr>
              <a:t>      –  </a:t>
            </a:r>
            <a:r>
              <a:rPr b="0" sz="1400">
                <a:solidFill>
                  <a:srgbClr val="9AA8C7"/>
                </a:solidFill>
                <a:latin typeface="Segoe UI"/>
              </a:rPr>
              <a:t>O mantén presionada la tecla y </a:t>
            </a:r>
            <a:r>
              <a:rPr b="1" sz="1400">
                <a:solidFill>
                  <a:srgbClr val="45D6C3"/>
                </a:solidFill>
                <a:latin typeface="Segoe UI"/>
              </a:rPr>
              <a:t>arrástrala</a:t>
            </a:r>
            <a:r>
              <a:rPr b="0" sz="1400">
                <a:solidFill>
                  <a:srgbClr val="9AA8C7"/>
                </a:solidFill>
                <a:latin typeface="Segoe UI"/>
              </a:rPr>
              <a:t> al punto exacto donde la quieres.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3.  </a:t>
            </a:r>
            <a:r>
              <a:rPr b="1" sz="1600">
                <a:solidFill>
                  <a:srgbClr val="45D6C3"/>
                </a:solidFill>
                <a:latin typeface="Segoe UI"/>
              </a:rPr>
              <a:t>Escribe la descripción</a:t>
            </a:r>
            <a:r>
              <a:rPr b="0" sz="1600">
                <a:solidFill>
                  <a:srgbClr val="F2F5FA"/>
                </a:solidFill>
                <a:latin typeface="Segoe UI"/>
              </a:rPr>
              <a:t> en la línea punteada de la figura (variables, fórmula o condición).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4.  </a:t>
            </a:r>
            <a:r>
              <a:rPr b="0" sz="1600">
                <a:solidFill>
                  <a:srgbClr val="F2F5FA"/>
                </a:solidFill>
                <a:latin typeface="Segoe UI"/>
              </a:rPr>
              <a:t>Todo módulo debe </a:t>
            </a:r>
            <a:r>
              <a:rPr b="1" sz="1600">
                <a:solidFill>
                  <a:srgbClr val="45D6C3"/>
                </a:solidFill>
                <a:latin typeface="Segoe UI"/>
              </a:rPr>
              <a:t>empezar con Inicio</a:t>
            </a:r>
            <a:r>
              <a:rPr b="0" sz="1600">
                <a:solidFill>
                  <a:srgbClr val="F2F5FA"/>
                </a:solidFill>
                <a:latin typeface="Segoe UI"/>
              </a:rPr>
              <a:t> y </a:t>
            </a:r>
            <a:r>
              <a:rPr b="1" sz="1600">
                <a:solidFill>
                  <a:srgbClr val="45D6C3"/>
                </a:solidFill>
                <a:latin typeface="Segoe UI"/>
              </a:rPr>
              <a:t>terminar con Fin</a:t>
            </a:r>
            <a:r>
              <a:rPr b="0" sz="16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549223"/>
            <a:ext cx="5029200" cy="4491072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94943"/>
            <a:ext cx="4937760" cy="43996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212080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4B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4B740"/>
                </a:solidFill>
                <a:latin typeface="Consolas"/>
              </a:rPr>
              <a:t>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59552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En </a:t>
            </a:r>
            <a:r>
              <a:rPr b="1" sz="1300">
                <a:solidFill>
                  <a:srgbClr val="45D6C3"/>
                </a:solidFill>
                <a:latin typeface="Segoe UI"/>
              </a:rPr>
              <a:t>Proceso y D.V.</a:t>
            </a:r>
            <a:r>
              <a:rPr b="0" sz="1300">
                <a:solidFill>
                  <a:srgbClr val="F2F5FA"/>
                </a:solidFill>
                <a:latin typeface="Segoe UI"/>
              </a:rPr>
              <a:t> puedes escribir varias asignaciones separándolas por línea o por coma.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Condicionales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Sirven para que el programa tome decisiones.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777240" y="1920240"/>
            <a:ext cx="548640" cy="411480"/>
          </a:xfrm>
          <a:prstGeom prst="diamond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920240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700">
                <a:solidFill>
                  <a:srgbClr val="F2F5FA"/>
                </a:solidFill>
                <a:latin typeface="Segoe UI"/>
              </a:rPr>
              <a:t>Condicional Doble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Tiene dos caminos.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300">
                <a:solidFill>
                  <a:srgbClr val="45D6C3"/>
                </a:solidFill>
                <a:latin typeface="Segoe UI"/>
              </a:rPr>
              <a:t>Verdadero (Si)</a:t>
            </a:r>
            <a:r>
              <a:rPr b="0" sz="1300">
                <a:solidFill>
                  <a:srgbClr val="F2F5FA"/>
                </a:solidFill>
                <a:latin typeface="Segoe UI"/>
              </a:rPr>
              <a:t>: se sigue por abajo a la izquierda.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300">
                <a:solidFill>
                  <a:srgbClr val="45D6C3"/>
                </a:solidFill>
                <a:latin typeface="Segoe UI"/>
              </a:rPr>
              <a:t>Falso (No)</a:t>
            </a:r>
            <a:r>
              <a:rPr b="0" sz="1300">
                <a:solidFill>
                  <a:srgbClr val="F2F5FA"/>
                </a:solidFill>
                <a:latin typeface="Segoe UI"/>
              </a:rPr>
              <a:t>: se sigue por la derecha.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Pseudocódigo: </a:t>
            </a:r>
            <a:r>
              <a:rPr b="0" sz="1300">
                <a:solidFill>
                  <a:srgbClr val="F4B740"/>
                </a:solidFill>
                <a:latin typeface="Consolas"/>
              </a:rPr>
              <a:t>Si (…) entonces … Sino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66160" cy="301752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572000" y="1920240"/>
            <a:ext cx="548640" cy="411480"/>
          </a:xfrm>
          <a:prstGeom prst="diamond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20240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700">
                <a:solidFill>
                  <a:srgbClr val="F2F5FA"/>
                </a:solidFill>
                <a:latin typeface="Segoe UI"/>
              </a:rPr>
              <a:t>Condicional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Solo tiene la rama </a:t>
            </a:r>
            <a:r>
              <a:rPr b="1" sz="1300">
                <a:solidFill>
                  <a:srgbClr val="45D6C3"/>
                </a:solidFill>
                <a:latin typeface="Segoe UI"/>
              </a:rPr>
              <a:t>Verdadero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Si la condición es falsa, el flujo continúa directo sin ejecutar nada.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Pseudocódigo: </a:t>
            </a:r>
            <a:r>
              <a:rPr b="0" sz="1300">
                <a:solidFill>
                  <a:srgbClr val="F4B740"/>
                </a:solidFill>
                <a:latin typeface="Consolas"/>
              </a:rPr>
              <a:t>Si (…) entonces … Fin del condicional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45D6C3"/>
                </a:solidFill>
                <a:latin typeface="Consolas"/>
              </a:rPr>
              <a:t>COMBINAR CONDICIONES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731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>
                <a:solidFill>
                  <a:srgbClr val="F4B740"/>
                </a:solidFill>
                <a:latin typeface="Consolas"/>
              </a:rPr>
              <a:t>&amp;&amp;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39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Y  (ambas se cumplen)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39"/>
            <a:ext cx="731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>
                <a:solidFill>
                  <a:srgbClr val="F4B740"/>
                </a:solidFill>
                <a:latin typeface="Consolas"/>
              </a:rPr>
              <a:t>||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0359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O  (al menos una)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37560"/>
            <a:ext cx="731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>
                <a:solidFill>
                  <a:srgbClr val="F4B740"/>
                </a:solidFill>
                <a:latin typeface="Consola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383279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NO (niega)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8620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Ej. </a:t>
            </a:r>
            <a:r>
              <a:rPr b="0" sz="1300">
                <a:solidFill>
                  <a:srgbClr val="F4B740"/>
                </a:solidFill>
                <a:latin typeface="Consolas"/>
              </a:rPr>
              <a:t>edad &gt;= 18 &amp;&amp; ficha ==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2555A"/>
                </a:solidFill>
                <a:latin typeface="Consolas"/>
              </a:rPr>
              <a:t>OJO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76672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No uses </a:t>
            </a:r>
            <a:r>
              <a:rPr b="0" sz="1300">
                <a:solidFill>
                  <a:srgbClr val="F4B740"/>
                </a:solidFill>
                <a:latin typeface="Consolas"/>
              </a:rPr>
              <a:t>^</a:t>
            </a:r>
            <a:r>
              <a:rPr b="0" sz="1300">
                <a:solidFill>
                  <a:srgbClr val="F2F5FA"/>
                </a:solidFill>
                <a:latin typeface="Segoe UI"/>
              </a:rPr>
              <a:t> ni </a:t>
            </a:r>
            <a:r>
              <a:rPr b="0" sz="1300">
                <a:solidFill>
                  <a:srgbClr val="F4B740"/>
                </a:solidFill>
                <a:latin typeface="Consolas"/>
              </a:rPr>
              <a:t>~</a:t>
            </a:r>
            <a:r>
              <a:rPr b="0" sz="1300">
                <a:solidFill>
                  <a:srgbClr val="F2F5FA"/>
                </a:solidFill>
                <a:latin typeface="Segoe UI"/>
              </a:rPr>
              <a:t> para Y / NO: no significan lo mismo, y en el teclado en español son teclas de acentos. Para comparar usa </a:t>
            </a:r>
            <a:r>
              <a:rPr b="0" sz="1300">
                <a:solidFill>
                  <a:srgbClr val="F4B740"/>
                </a:solidFill>
                <a:latin typeface="Consolas"/>
              </a:rPr>
              <a:t>==</a:t>
            </a:r>
            <a:r>
              <a:rPr b="0" sz="1300">
                <a:solidFill>
                  <a:srgbClr val="F2F5FA"/>
                </a:solidFill>
                <a:latin typeface="Segoe UI"/>
              </a:rPr>
              <a:t> (igual), </a:t>
            </a:r>
            <a:r>
              <a:rPr b="0" sz="1300">
                <a:solidFill>
                  <a:srgbClr val="F4B740"/>
                </a:solidFill>
                <a:latin typeface="Consolas"/>
              </a:rPr>
              <a:t>!=</a:t>
            </a:r>
            <a:r>
              <a:rPr b="0" sz="1300">
                <a:solidFill>
                  <a:srgbClr val="F2F5FA"/>
                </a:solidFill>
                <a:latin typeface="Segoe UI"/>
              </a:rPr>
              <a:t> (diferente), </a:t>
            </a:r>
            <a:r>
              <a:rPr b="0" sz="1300">
                <a:solidFill>
                  <a:srgbClr val="F4B740"/>
                </a:solidFill>
                <a:latin typeface="Consolas"/>
              </a:rPr>
              <a:t>&lt;</a:t>
            </a:r>
            <a:r>
              <a:rPr b="0" sz="1300">
                <a:solidFill>
                  <a:srgbClr val="F2F5FA"/>
                </a:solidFill>
                <a:latin typeface="Segoe UI"/>
              </a:rPr>
              <a:t>, </a:t>
            </a:r>
            <a:r>
              <a:rPr b="0" sz="1300">
                <a:solidFill>
                  <a:srgbClr val="F4B740"/>
                </a:solidFill>
                <a:latin typeface="Consolas"/>
              </a:rPr>
              <a:t>&gt;</a:t>
            </a:r>
            <a:r>
              <a:rPr b="0" sz="1300">
                <a:solidFill>
                  <a:srgbClr val="F2F5FA"/>
                </a:solidFill>
                <a:latin typeface="Segoe UI"/>
              </a:rPr>
              <a:t>, </a:t>
            </a:r>
            <a:r>
              <a:rPr b="0" sz="1300">
                <a:solidFill>
                  <a:srgbClr val="F4B740"/>
                </a:solidFill>
                <a:latin typeface="Consolas"/>
              </a:rPr>
              <a:t>&lt;=</a:t>
            </a:r>
            <a:r>
              <a:rPr b="0" sz="1300">
                <a:solidFill>
                  <a:srgbClr val="F2F5FA"/>
                </a:solidFill>
                <a:latin typeface="Segoe UI"/>
              </a:rPr>
              <a:t>, </a:t>
            </a:r>
            <a:r>
              <a:rPr b="0" sz="1300">
                <a:solidFill>
                  <a:srgbClr val="F4B740"/>
                </a:solidFill>
                <a:latin typeface="Consolas"/>
              </a:rPr>
              <a:t>&gt;=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Ciclos y selectiva múltiple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Repite instrucciones o elige entre muchos casos.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731520" y="1920240"/>
            <a:ext cx="594360" cy="384048"/>
          </a:xfrm>
          <a:prstGeom prst="diamond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1901952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2F5FA"/>
                </a:solidFill>
                <a:latin typeface="Segoe UI"/>
              </a:rPr>
              <a:t>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Evalúa la condición </a:t>
            </a:r>
            <a:r>
              <a:rPr b="1" sz="1300">
                <a:solidFill>
                  <a:srgbClr val="45D6C3"/>
                </a:solidFill>
                <a:latin typeface="Segoe UI"/>
              </a:rPr>
              <a:t>antes</a:t>
            </a:r>
            <a:r>
              <a:rPr b="0" sz="1300">
                <a:solidFill>
                  <a:srgbClr val="F2F5FA"/>
                </a:solidFill>
                <a:latin typeface="Segoe UI"/>
              </a:rPr>
              <a:t> de repetir (0 o más veces).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Ej. condición: </a:t>
            </a:r>
            <a:r>
              <a:rPr b="0" sz="1300">
                <a:solidFill>
                  <a:srgbClr val="F4B740"/>
                </a:solidFill>
                <a:latin typeface="Consolas"/>
              </a:rPr>
              <a:t>i &lt;= 10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Inicia </a:t>
            </a:r>
            <a:r>
              <a:rPr b="0" sz="1300">
                <a:solidFill>
                  <a:srgbClr val="F4B740"/>
                </a:solidFill>
                <a:latin typeface="Consolas"/>
              </a:rPr>
              <a:t>i</a:t>
            </a:r>
            <a:r>
              <a:rPr b="0" sz="1300">
                <a:solidFill>
                  <a:srgbClr val="F2F5FA"/>
                </a:solidFill>
                <a:latin typeface="Segoe UI"/>
              </a:rPr>
              <a:t> antes y auméntalo dentro del cuerpo.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3538728" y="1920240"/>
            <a:ext cx="594360" cy="384048"/>
          </a:xfrm>
          <a:prstGeom prst="hexagon">
            <a:avLst/>
          </a:prstGeom>
          <a:solidFill>
            <a:srgbClr val="7FD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901952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2F5FA"/>
                </a:solidFill>
                <a:latin typeface="Segoe UI"/>
              </a:rPr>
              <a:t>Mientras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5146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Repite </a:t>
            </a:r>
            <a:r>
              <a:rPr b="1" sz="1300">
                <a:solidFill>
                  <a:srgbClr val="45D6C3"/>
                </a:solidFill>
                <a:latin typeface="Segoe UI"/>
              </a:rPr>
              <a:t>mientras</a:t>
            </a:r>
            <a:r>
              <a:rPr b="0" sz="1300">
                <a:solidFill>
                  <a:srgbClr val="F2F5FA"/>
                </a:solidFill>
                <a:latin typeface="Segoe UI"/>
              </a:rPr>
              <a:t> la condición sea verdadera.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Se revisa </a:t>
            </a:r>
            <a:r>
              <a:rPr b="1" sz="1300">
                <a:solidFill>
                  <a:srgbClr val="45D6C3"/>
                </a:solidFill>
                <a:latin typeface="Segoe UI"/>
              </a:rPr>
              <a:t>antes</a:t>
            </a:r>
            <a:r>
              <a:rPr b="0" sz="1300">
                <a:solidFill>
                  <a:srgbClr val="F2F5FA"/>
                </a:solidFill>
                <a:latin typeface="Segoe UI"/>
              </a:rPr>
              <a:t> de cada vuelta.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Ej. </a:t>
            </a:r>
            <a:r>
              <a:rPr b="0" sz="1300">
                <a:solidFill>
                  <a:srgbClr val="F4B740"/>
                </a:solidFill>
                <a:latin typeface="Consolas"/>
              </a:rPr>
              <a:t>i &lt;=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73736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6345936" y="1920240"/>
            <a:ext cx="594360" cy="384048"/>
          </a:xfrm>
          <a:prstGeom prst="hexagon">
            <a:avLst/>
          </a:prstGeom>
          <a:solidFill>
            <a:srgbClr val="7FD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901952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2F5FA"/>
                </a:solidFill>
                <a:latin typeface="Segoe UI"/>
              </a:rPr>
              <a:t>Hacer-Mientras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146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Ejecuta el cuerpo </a:t>
            </a:r>
            <a:r>
              <a:rPr b="1" sz="1300">
                <a:solidFill>
                  <a:srgbClr val="45D6C3"/>
                </a:solidFill>
                <a:latin typeface="Segoe UI"/>
              </a:rPr>
              <a:t>primero</a:t>
            </a:r>
            <a:r>
              <a:rPr b="0" sz="1300">
                <a:solidFill>
                  <a:srgbClr val="F2F5FA"/>
                </a:solidFill>
                <a:latin typeface="Segoe UI"/>
              </a:rPr>
              <a:t> y revisa la condición </a:t>
            </a:r>
            <a:r>
              <a:rPr b="1" sz="1300">
                <a:solidFill>
                  <a:srgbClr val="45D6C3"/>
                </a:solidFill>
                <a:latin typeface="Segoe UI"/>
              </a:rPr>
              <a:t>al final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Se ejecuta </a:t>
            </a:r>
            <a:r>
              <a:rPr b="1" sz="1300">
                <a:solidFill>
                  <a:srgbClr val="45D6C3"/>
                </a:solidFill>
                <a:latin typeface="Segoe UI"/>
              </a:rPr>
              <a:t>al menos una vez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73736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153143" y="1920240"/>
            <a:ext cx="594360" cy="384048"/>
          </a:xfrm>
          <a:prstGeom prst="hexagon">
            <a:avLst/>
          </a:prstGeom>
          <a:solidFill>
            <a:srgbClr val="F3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8943" y="1901952"/>
            <a:ext cx="17373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2F5FA"/>
                </a:solidFill>
                <a:latin typeface="Segoe UI"/>
              </a:rPr>
              <a:t>Según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5146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Escribe la </a:t>
            </a:r>
            <a:r>
              <a:rPr b="1" sz="1300">
                <a:solidFill>
                  <a:srgbClr val="45D6C3"/>
                </a:solidFill>
                <a:latin typeface="Segoe UI"/>
              </a:rPr>
              <a:t>variable selectora</a:t>
            </a:r>
            <a:r>
              <a:rPr b="0" sz="1300">
                <a:solidFill>
                  <a:srgbClr val="F2F5FA"/>
                </a:solidFill>
                <a:latin typeface="Segoe UI"/>
              </a:rPr>
              <a:t> (ej. </a:t>
            </a:r>
            <a:r>
              <a:rPr b="0" sz="1300">
                <a:solidFill>
                  <a:srgbClr val="F4B740"/>
                </a:solidFill>
                <a:latin typeface="Consolas"/>
              </a:rPr>
              <a:t>CARR</a:t>
            </a:r>
            <a:r>
              <a:rPr b="0" sz="1300">
                <a:solidFill>
                  <a:srgbClr val="F2F5FA"/>
                </a:solidFill>
                <a:latin typeface="Segoe UI"/>
              </a:rPr>
              <a:t>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En cada caso escribe el valor, ej. </a:t>
            </a:r>
            <a:r>
              <a:rPr b="0" sz="1300">
                <a:solidFill>
                  <a:srgbClr val="F4B740"/>
                </a:solidFill>
                <a:latin typeface="Consolas"/>
              </a:rPr>
              <a:t>"Economía"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300">
                <a:solidFill>
                  <a:srgbClr val="45D6C3"/>
                </a:solidFill>
                <a:latin typeface="Segoe UI"/>
              </a:rPr>
              <a:t>+ agregar caso</a:t>
            </a:r>
            <a:r>
              <a:rPr b="0" sz="1300">
                <a:solidFill>
                  <a:srgbClr val="F2F5FA"/>
                </a:solidFill>
                <a:latin typeface="Segoe UI"/>
              </a:rPr>
              <a:t> / ✕ para quitar.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300">
                <a:solidFill>
                  <a:srgbClr val="45D6C3"/>
                </a:solidFill>
                <a:latin typeface="Segoe UI"/>
              </a:rPr>
              <a:t>Otro</a:t>
            </a:r>
            <a:r>
              <a:rPr b="0" sz="1300">
                <a:solidFill>
                  <a:srgbClr val="F2F5FA"/>
                </a:solidFill>
                <a:latin typeface="Segoe UI"/>
              </a:rPr>
              <a:t>: cuando ningún caso coincide.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4B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4B740"/>
                </a:solidFill>
                <a:latin typeface="Consolas"/>
              </a:rPr>
              <a:t>TIP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76672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Arma el contenido del ciclo dentro de </a:t>
            </a:r>
            <a:r>
              <a:rPr b="1" sz="1300">
                <a:solidFill>
                  <a:srgbClr val="45D6C3"/>
                </a:solidFill>
                <a:latin typeface="Segoe UI"/>
              </a:rPr>
              <a:t>Cuerpo del ciclo</a:t>
            </a:r>
            <a:r>
              <a:rPr b="0" sz="1300">
                <a:solidFill>
                  <a:srgbClr val="F2F5FA"/>
                </a:solidFill>
                <a:latin typeface="Segoe UI"/>
              </a:rPr>
              <a:t>: tócalo para que sea el lugar activo y agrega ahí los símbolos.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Mover, copiar y 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0116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4B740"/>
                </a:solidFill>
                <a:latin typeface="Segoe UI"/>
              </a:rPr>
              <a:t>Mover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8595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Mantén presionado un bloque y </a:t>
            </a:r>
            <a:r>
              <a:rPr b="1" sz="1400">
                <a:solidFill>
                  <a:srgbClr val="45D6C3"/>
                </a:solidFill>
                <a:latin typeface="Segoe UI"/>
              </a:rPr>
              <a:t>arrástralo</a:t>
            </a:r>
            <a:r>
              <a:rPr b="0" sz="1400">
                <a:solidFill>
                  <a:srgbClr val="F2F5FA"/>
                </a:solidFill>
                <a:latin typeface="Segoe UI"/>
              </a:rPr>
              <a:t> a su nueva posición (en la secuencia o dentro de una rama).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20116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4B740"/>
                </a:solidFill>
                <a:latin typeface="Segoe UI"/>
              </a:rPr>
              <a:t>Copiar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31720"/>
            <a:ext cx="8595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Toca el botón </a:t>
            </a:r>
            <a:r>
              <a:rPr b="1" sz="1400">
                <a:solidFill>
                  <a:srgbClr val="45D6C3"/>
                </a:solidFill>
                <a:latin typeface="Segoe UI"/>
              </a:rPr>
              <a:t>⧉</a:t>
            </a:r>
            <a:r>
              <a:rPr b="0" sz="1400">
                <a:solidFill>
                  <a:srgbClr val="F2F5FA"/>
                </a:solidFill>
                <a:latin typeface="Segoe UI"/>
              </a:rPr>
              <a:t> en la esquina del bloque (se copia con todo y sus ramas). Luego elige el lugar y toca </a:t>
            </a:r>
            <a:r>
              <a:rPr b="1" sz="1400">
                <a:solidFill>
                  <a:srgbClr val="45D6C3"/>
                </a:solidFill>
                <a:latin typeface="Segoe UI"/>
              </a:rPr>
              <a:t>Pegar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0116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4B740"/>
                </a:solidFill>
                <a:latin typeface="Segoe UI"/>
              </a:rPr>
              <a:t>Copiar varios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46120"/>
            <a:ext cx="8595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Activa </a:t>
            </a:r>
            <a:r>
              <a:rPr b="1" sz="1400">
                <a:solidFill>
                  <a:srgbClr val="45D6C3"/>
                </a:solidFill>
                <a:latin typeface="Segoe UI"/>
              </a:rPr>
              <a:t>☑ Seleccionar varios bloques</a:t>
            </a:r>
            <a:r>
              <a:rPr b="0" sz="1400">
                <a:solidFill>
                  <a:srgbClr val="F2F5FA"/>
                </a:solidFill>
                <a:latin typeface="Segoe UI"/>
              </a:rPr>
              <a:t>, toca cada bloque (todos de la misma secuencia), toca </a:t>
            </a:r>
            <a:r>
              <a:rPr b="1" sz="1400">
                <a:solidFill>
                  <a:srgbClr val="45D6C3"/>
                </a:solidFill>
                <a:latin typeface="Segoe UI"/>
              </a:rPr>
              <a:t>Copiar grupo</a:t>
            </a:r>
            <a:r>
              <a:rPr b="0" sz="1400">
                <a:solidFill>
                  <a:srgbClr val="F2F5FA"/>
                </a:solidFill>
                <a:latin typeface="Segoe UI"/>
              </a:rPr>
              <a:t> y después </a:t>
            </a:r>
            <a:r>
              <a:rPr b="1" sz="1400">
                <a:solidFill>
                  <a:srgbClr val="45D6C3"/>
                </a:solidFill>
                <a:latin typeface="Segoe UI"/>
              </a:rPr>
              <a:t>Pegar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20116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4B740"/>
                </a:solidFill>
                <a:latin typeface="Segoe UI"/>
              </a:rPr>
              <a:t>Eliminar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60520"/>
            <a:ext cx="8595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Arrastra el bloque hasta el recuadro rojo </a:t>
            </a:r>
            <a:r>
              <a:rPr b="1" sz="1400">
                <a:solidFill>
                  <a:srgbClr val="45D6C3"/>
                </a:solidFill>
                <a:latin typeface="Segoe UI"/>
              </a:rPr>
              <a:t>Eliminar (arrastra aquí)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20116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600">
                <a:solidFill>
                  <a:srgbClr val="F4B740"/>
                </a:solidFill>
                <a:latin typeface="Segoe UI"/>
              </a:rPr>
              <a:t>Módulos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074920"/>
            <a:ext cx="8595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Para borrar un módulo toca la </a:t>
            </a:r>
            <a:r>
              <a:rPr b="1" sz="1400">
                <a:solidFill>
                  <a:srgbClr val="45D6C3"/>
                </a:solidFill>
                <a:latin typeface="Segoe UI"/>
              </a:rPr>
              <a:t>×</a:t>
            </a:r>
            <a:r>
              <a:rPr b="0" sz="1400">
                <a:solidFill>
                  <a:srgbClr val="F2F5FA"/>
                </a:solidFill>
                <a:latin typeface="Segoe UI"/>
              </a:rPr>
              <a:t> de su pestaña. Las llamadas a ese módulo quedarán rotas.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Ejemplo completo: cálculo de sueldo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1114" y="1234439"/>
            <a:ext cx="5735770" cy="5120640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34" y="1280160"/>
            <a:ext cx="564433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ENUNCIADO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9377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400">
                <a:solidFill>
                  <a:srgbClr val="F2F5FA"/>
                </a:solidFill>
                <a:latin typeface="Segoe UI"/>
              </a:rPr>
              <a:t>Leer la clave, horas trabajadas y pago por hora de un empleado; calcular su sueldo e indicar si es alto (&gt; 5000).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BLOQUES USADOS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8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Inicio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Leer</a:t>
            </a:r>
            <a:r>
              <a:rPr b="0" sz="1400">
                <a:solidFill>
                  <a:srgbClr val="F2F5FA"/>
                </a:solidFill>
                <a:latin typeface="Segoe UI"/>
              </a:rPr>
              <a:t>: </a:t>
            </a:r>
            <a:r>
              <a:rPr b="0" sz="1400">
                <a:solidFill>
                  <a:srgbClr val="F4B740"/>
                </a:solidFill>
                <a:latin typeface="Consolas"/>
              </a:rPr>
              <a:t>cve, ht, pht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Proceso y D.V.</a:t>
            </a:r>
            <a:r>
              <a:rPr b="0" sz="1400">
                <a:solidFill>
                  <a:srgbClr val="F2F5FA"/>
                </a:solidFill>
                <a:latin typeface="Segoe UI"/>
              </a:rPr>
              <a:t>: </a:t>
            </a:r>
            <a:r>
              <a:rPr b="0" sz="1400">
                <a:solidFill>
                  <a:srgbClr val="F4B740"/>
                </a:solidFill>
                <a:latin typeface="Consolas"/>
              </a:rPr>
              <a:t>sueldo = ht * pht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Condicional Doble</a:t>
            </a:r>
            <a:r>
              <a:rPr b="0" sz="1400">
                <a:solidFill>
                  <a:srgbClr val="F2F5FA"/>
                </a:solidFill>
                <a:latin typeface="Segoe UI"/>
              </a:rPr>
              <a:t>: </a:t>
            </a:r>
            <a:r>
              <a:rPr b="0" sz="1400">
                <a:solidFill>
                  <a:srgbClr val="F4B740"/>
                </a:solidFill>
                <a:latin typeface="Consolas"/>
              </a:rPr>
              <a:t>sueldo &gt; 5000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0" sz="1200">
                <a:solidFill>
                  <a:srgbClr val="9AA8C7"/>
                </a:solidFill>
                <a:latin typeface="Segoe UI"/>
              </a:rPr>
              <a:t>      –  </a:t>
            </a:r>
            <a:r>
              <a:rPr b="0" sz="1200">
                <a:solidFill>
                  <a:srgbClr val="9AA8C7"/>
                </a:solidFill>
                <a:latin typeface="Segoe UI"/>
              </a:rPr>
              <a:t>Verdadero → Imprimir "Sueldo alto"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0" sz="1200">
                <a:solidFill>
                  <a:srgbClr val="9AA8C7"/>
                </a:solidFill>
                <a:latin typeface="Segoe UI"/>
              </a:rPr>
              <a:t>      –  </a:t>
            </a:r>
            <a:r>
              <a:rPr b="0" sz="1200">
                <a:solidFill>
                  <a:srgbClr val="9AA8C7"/>
                </a:solidFill>
                <a:latin typeface="Segoe UI"/>
              </a:rPr>
              <a:t>Falso → Imprimir "Sueldo normal"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Imprimir</a:t>
            </a:r>
            <a:r>
              <a:rPr b="0" sz="1400">
                <a:solidFill>
                  <a:srgbClr val="F2F5FA"/>
                </a:solidFill>
                <a:latin typeface="Segoe UI"/>
              </a:rPr>
              <a:t>: </a:t>
            </a:r>
            <a:r>
              <a:rPr b="0" sz="1400">
                <a:solidFill>
                  <a:srgbClr val="F4B740"/>
                </a:solidFill>
                <a:latin typeface="Consolas"/>
              </a:rPr>
              <a:t>cve, sueldo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>
                <a:solidFill>
                  <a:srgbClr val="45D6C3"/>
                </a:solidFill>
                <a:latin typeface="Segoe UI"/>
              </a:rPr>
              <a:t>•  </a:t>
            </a:r>
            <a:r>
              <a:rPr b="1" sz="1400">
                <a:solidFill>
                  <a:srgbClr val="45D6C3"/>
                </a:solidFill>
                <a:latin typeface="Segoe UI"/>
              </a:rPr>
              <a:t>Fin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El pseudocódigo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Se genera solo, mientras construyes el diagrama.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102" y="1737360"/>
            <a:ext cx="5209715" cy="4023359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s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2" y="1783080"/>
            <a:ext cx="5118275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Cada símbolo se traduce a una línea: </a:t>
            </a:r>
            <a:r>
              <a:rPr b="0" sz="1600">
                <a:solidFill>
                  <a:srgbClr val="F4B740"/>
                </a:solidFill>
                <a:latin typeface="Consolas"/>
              </a:rPr>
              <a:t>Leer (…)</a:t>
            </a:r>
            <a:r>
              <a:rPr b="0" sz="1600">
                <a:solidFill>
                  <a:srgbClr val="F2F5FA"/>
                </a:solidFill>
                <a:latin typeface="Segoe UI"/>
              </a:rPr>
              <a:t>, </a:t>
            </a:r>
            <a:r>
              <a:rPr b="0" sz="1600">
                <a:solidFill>
                  <a:srgbClr val="F4B740"/>
                </a:solidFill>
                <a:latin typeface="Consolas"/>
              </a:rPr>
              <a:t>Imprimir (…)</a:t>
            </a:r>
            <a:r>
              <a:rPr b="0" sz="1600">
                <a:solidFill>
                  <a:srgbClr val="F2F5FA"/>
                </a:solidFill>
                <a:latin typeface="Segoe UI"/>
              </a:rPr>
              <a:t>, </a:t>
            </a:r>
            <a:r>
              <a:rPr b="0" sz="1600">
                <a:solidFill>
                  <a:srgbClr val="F4B740"/>
                </a:solidFill>
                <a:latin typeface="Consolas"/>
              </a:rPr>
              <a:t>Si (…) entonces</a:t>
            </a:r>
            <a:r>
              <a:rPr b="0" sz="1600">
                <a:solidFill>
                  <a:srgbClr val="F2F5FA"/>
                </a:solidFill>
                <a:latin typeface="Segoe UI"/>
              </a:rPr>
              <a:t>, </a:t>
            </a:r>
            <a:r>
              <a:rPr b="0" sz="1600">
                <a:solidFill>
                  <a:srgbClr val="F4B740"/>
                </a:solidFill>
                <a:latin typeface="Consolas"/>
              </a:rPr>
              <a:t>Mientras (…) repetir</a:t>
            </a:r>
            <a:r>
              <a:rPr b="0" sz="1600">
                <a:solidFill>
                  <a:srgbClr val="F2F5FA"/>
                </a:solidFill>
                <a:latin typeface="Segoe UI"/>
              </a:rPr>
              <a:t>…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Cada módulo aparece como </a:t>
            </a:r>
            <a:r>
              <a:rPr b="0" sz="1600">
                <a:solidFill>
                  <a:srgbClr val="F4B740"/>
                </a:solidFill>
                <a:latin typeface="Consolas"/>
              </a:rPr>
              <a:t>Módulo: nombre</a:t>
            </a:r>
            <a:r>
              <a:rPr b="0" sz="16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El recuadro es </a:t>
            </a:r>
            <a:r>
              <a:rPr b="1" sz="1600">
                <a:solidFill>
                  <a:srgbClr val="45D6C3"/>
                </a:solidFill>
                <a:latin typeface="Segoe UI"/>
              </a:rPr>
              <a:t>editable</a:t>
            </a:r>
            <a:r>
              <a:rPr b="0" sz="1600">
                <a:solidFill>
                  <a:srgbClr val="F2F5FA"/>
                </a:solidFill>
                <a:latin typeface="Segoe UI"/>
              </a:rPr>
              <a:t>: si cambias el texto, el diagrama </a:t>
            </a:r>
            <a:r>
              <a:rPr b="1" sz="1600">
                <a:solidFill>
                  <a:srgbClr val="45D6C3"/>
                </a:solidFill>
                <a:latin typeface="Segoe UI"/>
              </a:rPr>
              <a:t>se reconstruye automáticamente</a:t>
            </a:r>
            <a:r>
              <a:rPr b="0" sz="16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Respeta el formato y la sangría (2 espacios por nivel). Si algo no cuadra, aparece un aviso ⚠ con el </a:t>
            </a:r>
            <a:r>
              <a:rPr b="1" sz="1600">
                <a:solidFill>
                  <a:srgbClr val="45D6C3"/>
                </a:solidFill>
                <a:latin typeface="Segoe UI"/>
              </a:rPr>
              <a:t>número de línea</a:t>
            </a:r>
            <a:r>
              <a:rPr b="0" sz="1600">
                <a:solidFill>
                  <a:srgbClr val="F2F5FA"/>
                </a:solidFill>
                <a:latin typeface="Segoe UI"/>
              </a:rPr>
              <a:t> del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Verifica tu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Toca VERIFICAR PROGRAMA para revisar que el diagrama esté bien formado.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97894"/>
            <a:ext cx="6675119" cy="3759490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3614"/>
            <a:ext cx="6583679" cy="3668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1783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LA VERIFICACIÓN REVISA QUE CADA MÓDULO…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Empiece con </a:t>
            </a:r>
            <a:r>
              <a:rPr b="1" sz="1300">
                <a:solidFill>
                  <a:srgbClr val="45D6C3"/>
                </a:solidFill>
                <a:latin typeface="Segoe UI"/>
              </a:rPr>
              <a:t>Inicio</a:t>
            </a:r>
            <a:r>
              <a:rPr b="0" sz="1300">
                <a:solidFill>
                  <a:srgbClr val="F2F5FA"/>
                </a:solidFill>
                <a:latin typeface="Segoe UI"/>
              </a:rPr>
              <a:t> y termine con </a:t>
            </a:r>
            <a:r>
              <a:rPr b="1" sz="1300">
                <a:solidFill>
                  <a:srgbClr val="45D6C3"/>
                </a:solidFill>
                <a:latin typeface="Segoe UI"/>
              </a:rPr>
              <a:t>Fin</a:t>
            </a:r>
            <a:r>
              <a:rPr b="0" sz="1300">
                <a:solidFill>
                  <a:srgbClr val="F2F5FA"/>
                </a:solidFill>
                <a:latin typeface="Segoe UI"/>
              </a:rPr>
              <a:t> (solo uno de cada uno).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Tenga pasos entre Inicio y Fin.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No tenga Inicio/Fin dentro de ramas o ciclos.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Todos los símbolos tengan </a:t>
            </a:r>
            <a:r>
              <a:rPr b="1" sz="1300">
                <a:solidFill>
                  <a:srgbClr val="45D6C3"/>
                </a:solidFill>
                <a:latin typeface="Segoe UI"/>
              </a:rPr>
              <a:t>descripción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300">
                <a:solidFill>
                  <a:srgbClr val="F2F5FA"/>
                </a:solidFill>
                <a:latin typeface="Segoe UI"/>
              </a:rPr>
              <a:t>Las llamadas apunten a módulos que existan, y los casos de </a:t>
            </a:r>
            <a:r>
              <a:rPr b="1" sz="1300">
                <a:solidFill>
                  <a:srgbClr val="45D6C3"/>
                </a:solidFill>
                <a:latin typeface="Segoe UI"/>
              </a:rPr>
              <a:t>Según</a:t>
            </a:r>
            <a:r>
              <a:rPr b="0" sz="1300">
                <a:solidFill>
                  <a:srgbClr val="F2F5FA"/>
                </a:solidFill>
                <a:latin typeface="Segoe UI"/>
              </a:rPr>
              <a:t> tengan 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507492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5166359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45D6C3"/>
                </a:solidFill>
                <a:latin typeface="Consolas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5422392"/>
            <a:ext cx="374903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Si todo está bien, la luz se pone </a:t>
            </a:r>
            <a:r>
              <a:rPr b="1" sz="1300">
                <a:solidFill>
                  <a:srgbClr val="45D6C3"/>
                </a:solidFill>
                <a:latin typeface="Segoe UI"/>
              </a:rPr>
              <a:t>verde</a:t>
            </a:r>
            <a:r>
              <a:rPr b="0" sz="1300">
                <a:solidFill>
                  <a:srgbClr val="F2F5FA"/>
                </a:solidFill>
                <a:latin typeface="Segoe UI"/>
              </a:rPr>
              <a:t> y ganas </a:t>
            </a:r>
            <a:r>
              <a:rPr b="1" sz="1300">
                <a:solidFill>
                  <a:srgbClr val="45D6C3"/>
                </a:solidFill>
                <a:latin typeface="Segoe UI"/>
              </a:rPr>
              <a:t>+10 XP</a:t>
            </a:r>
            <a:r>
              <a:rPr b="0" sz="1300">
                <a:solidFill>
                  <a:srgbClr val="F2F5FA"/>
                </a:solidFill>
                <a:latin typeface="Segoe UI"/>
              </a:rPr>
              <a:t>. Si no, se prende la roja y ves qué corregir.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Prueba de escritorio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Simula la ejecución paso a paso y muestra el valor de cada variable.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776156"/>
            <a:ext cx="11155680" cy="3031366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1876"/>
            <a:ext cx="11064240" cy="29399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834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1.  </a:t>
            </a:r>
            <a:r>
              <a:rPr b="0" sz="1400">
                <a:solidFill>
                  <a:srgbClr val="F2F5FA"/>
                </a:solidFill>
                <a:latin typeface="Segoe UI"/>
              </a:rPr>
              <a:t>Toca </a:t>
            </a:r>
            <a:r>
              <a:rPr b="1" sz="1400">
                <a:solidFill>
                  <a:srgbClr val="45D6C3"/>
                </a:solidFill>
                <a:latin typeface="Segoe UI"/>
              </a:rPr>
              <a:t>🖊 Prueba de escritorio (tabla)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2.  </a:t>
            </a:r>
            <a:r>
              <a:rPr b="0" sz="1400">
                <a:solidFill>
                  <a:srgbClr val="F2F5FA"/>
                </a:solidFill>
                <a:latin typeface="Segoe UI"/>
              </a:rPr>
              <a:t>Escribe un valor para cada variable que se </a:t>
            </a:r>
            <a:r>
              <a:rPr b="1" sz="1400">
                <a:solidFill>
                  <a:srgbClr val="45D6C3"/>
                </a:solidFill>
                <a:latin typeface="Segoe UI"/>
              </a:rPr>
              <a:t>Lee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3.  </a:t>
            </a:r>
            <a:r>
              <a:rPr b="0" sz="1400">
                <a:solidFill>
                  <a:srgbClr val="F2F5FA"/>
                </a:solidFill>
                <a:latin typeface="Segoe UI"/>
              </a:rPr>
              <a:t>Revisa la tabla: paso, módulo, símbolo, detalle y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98348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4B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4B740"/>
                </a:solidFill>
                <a:latin typeface="Consolas"/>
              </a:rPr>
              <a:t>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330952"/>
            <a:ext cx="3566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Los ciclos se detienen tras </a:t>
            </a:r>
            <a:r>
              <a:rPr b="1" sz="1300">
                <a:solidFill>
                  <a:srgbClr val="45D6C3"/>
                </a:solidFill>
                <a:latin typeface="Segoe UI"/>
              </a:rPr>
              <a:t>50 vueltas</a:t>
            </a:r>
            <a:r>
              <a:rPr b="0" sz="1300">
                <a:solidFill>
                  <a:srgbClr val="F2F5FA"/>
                </a:solidFill>
                <a:latin typeface="Segoe UI"/>
              </a:rPr>
              <a:t> para avisarte de un posible ciclo infinito.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Ejecuta en la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Corre tu programa como si fuera una consola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795359"/>
            <a:ext cx="11155680" cy="2810081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1079"/>
            <a:ext cx="11064240" cy="27186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46320"/>
            <a:ext cx="6858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1.  </a:t>
            </a:r>
            <a:r>
              <a:rPr b="0" sz="1400">
                <a:solidFill>
                  <a:srgbClr val="F2F5FA"/>
                </a:solidFill>
                <a:latin typeface="Segoe UI"/>
              </a:rPr>
              <a:t>Toca </a:t>
            </a:r>
            <a:r>
              <a:rPr b="1" sz="1400">
                <a:solidFill>
                  <a:srgbClr val="45D6C3"/>
                </a:solidFill>
                <a:latin typeface="Segoe UI"/>
              </a:rPr>
              <a:t>▶ Ejecutar (terminal)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2.  </a:t>
            </a:r>
            <a:r>
              <a:rPr b="0" sz="1400">
                <a:solidFill>
                  <a:srgbClr val="F2F5FA"/>
                </a:solidFill>
                <a:latin typeface="Segoe UI"/>
              </a:rPr>
              <a:t>En cada </a:t>
            </a:r>
            <a:r>
              <a:rPr b="1" sz="1400">
                <a:solidFill>
                  <a:srgbClr val="45D6C3"/>
                </a:solidFill>
                <a:latin typeface="Segoe UI"/>
              </a:rPr>
              <a:t>Leer</a:t>
            </a:r>
            <a:r>
              <a:rPr b="0" sz="1400">
                <a:solidFill>
                  <a:srgbClr val="F2F5FA"/>
                </a:solidFill>
                <a:latin typeface="Segoe UI"/>
              </a:rPr>
              <a:t> aparece el cursor: escribe el valor y presiona </a:t>
            </a:r>
            <a:r>
              <a:rPr b="1" sz="1400">
                <a:solidFill>
                  <a:srgbClr val="45D6C3"/>
                </a:solidFill>
                <a:latin typeface="Segoe UI"/>
              </a:rPr>
              <a:t>Enter</a:t>
            </a:r>
            <a:r>
              <a:rPr b="0" sz="14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4B740"/>
                </a:solidFill>
                <a:latin typeface="Segoe UI"/>
              </a:rPr>
              <a:t>3.  </a:t>
            </a:r>
            <a:r>
              <a:rPr b="0" sz="1400">
                <a:solidFill>
                  <a:srgbClr val="F2F5FA"/>
                </a:solidFill>
                <a:latin typeface="Segoe UI"/>
              </a:rPr>
              <a:t>Lo que se </a:t>
            </a:r>
            <a:r>
              <a:rPr b="1" sz="1400">
                <a:solidFill>
                  <a:srgbClr val="45D6C3"/>
                </a:solidFill>
                <a:latin typeface="Segoe UI"/>
              </a:rPr>
              <a:t>Imprime</a:t>
            </a:r>
            <a:r>
              <a:rPr b="0" sz="1400">
                <a:solidFill>
                  <a:srgbClr val="F2F5FA"/>
                </a:solidFill>
                <a:latin typeface="Segoe UI"/>
              </a:rPr>
              <a:t> aparece con </a:t>
            </a:r>
            <a:r>
              <a:rPr b="0" sz="1400">
                <a:solidFill>
                  <a:srgbClr val="F4B740"/>
                </a:solidFill>
                <a:latin typeface="Consolas"/>
              </a:rPr>
              <a:t>&gt;&gt;</a:t>
            </a:r>
            <a:r>
              <a:rPr b="0" sz="1400">
                <a:solidFill>
                  <a:srgbClr val="F2F5FA"/>
                </a:solidFill>
                <a:latin typeface="Segoe UI"/>
              </a:rPr>
              <a:t>. Al final verás ✅ Programa terminado.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846320"/>
            <a:ext cx="3931920" cy="128016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937759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45D6C3"/>
                </a:solidFill>
                <a:latin typeface="Consolas"/>
              </a:rPr>
              <a:t>BOTONES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93792"/>
            <a:ext cx="356616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300">
                <a:solidFill>
                  <a:srgbClr val="45D6C3"/>
                </a:solidFill>
                <a:latin typeface="Segoe UI"/>
              </a:rPr>
              <a:t>⏹ Detener</a:t>
            </a:r>
            <a:r>
              <a:rPr b="0" sz="1300">
                <a:solidFill>
                  <a:srgbClr val="F2F5FA"/>
                </a:solidFill>
                <a:latin typeface="Segoe UI"/>
              </a:rPr>
              <a:t> corta la ejecución; </a:t>
            </a:r>
            <a:r>
              <a:rPr b="1" sz="1300">
                <a:solidFill>
                  <a:srgbClr val="45D6C3"/>
                </a:solidFill>
                <a:latin typeface="Segoe UI"/>
              </a:rPr>
              <a:t>Cerrar</a:t>
            </a:r>
            <a:r>
              <a:rPr b="0" sz="1300">
                <a:solidFill>
                  <a:srgbClr val="F2F5FA"/>
                </a:solidFill>
                <a:latin typeface="Segoe UI"/>
              </a:rPr>
              <a:t> oculta la terminal.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Programas con módulos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Divide un problema grande en subprogramas (diseño Top-Down).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683" y="1737360"/>
            <a:ext cx="5521192" cy="4526279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3" y="1783080"/>
            <a:ext cx="5429752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17830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1.  </a:t>
            </a:r>
            <a:r>
              <a:rPr b="0" sz="1500">
                <a:solidFill>
                  <a:srgbClr val="F2F5FA"/>
                </a:solidFill>
                <a:latin typeface="Segoe UI"/>
              </a:rPr>
              <a:t>Toca la pestaña </a:t>
            </a:r>
            <a:r>
              <a:rPr b="1" sz="1500">
                <a:solidFill>
                  <a:srgbClr val="45D6C3"/>
                </a:solidFill>
                <a:latin typeface="Segoe UI"/>
              </a:rPr>
              <a:t>+ nuevo módulo</a:t>
            </a:r>
            <a:r>
              <a:rPr b="0" sz="1500">
                <a:solidFill>
                  <a:srgbClr val="F2F5FA"/>
                </a:solidFill>
                <a:latin typeface="Segoe UI"/>
              </a:rPr>
              <a:t> y escribe su nombre (ej. </a:t>
            </a:r>
            <a:r>
              <a:rPr b="0" sz="1500">
                <a:solidFill>
                  <a:srgbClr val="F4B740"/>
                </a:solidFill>
                <a:latin typeface="Consolas"/>
              </a:rPr>
              <a:t>Calcular</a:t>
            </a:r>
            <a:r>
              <a:rPr b="0" sz="1500">
                <a:solidFill>
                  <a:srgbClr val="F2F5FA"/>
                </a:solidFill>
                <a:latin typeface="Segoe UI"/>
              </a:rPr>
              <a:t>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2.  </a:t>
            </a:r>
            <a:r>
              <a:rPr b="0" sz="1500">
                <a:solidFill>
                  <a:srgbClr val="F2F5FA"/>
                </a:solidFill>
                <a:latin typeface="Segoe UI"/>
              </a:rPr>
              <a:t>Construye el módulo con su propio </a:t>
            </a:r>
            <a:r>
              <a:rPr b="1" sz="1500">
                <a:solidFill>
                  <a:srgbClr val="45D6C3"/>
                </a:solidFill>
                <a:latin typeface="Segoe UI"/>
              </a:rPr>
              <a:t>Inicio</a:t>
            </a:r>
            <a:r>
              <a:rPr b="0" sz="1500">
                <a:solidFill>
                  <a:srgbClr val="F2F5FA"/>
                </a:solidFill>
                <a:latin typeface="Segoe UI"/>
              </a:rPr>
              <a:t> y </a:t>
            </a:r>
            <a:r>
              <a:rPr b="1" sz="1500">
                <a:solidFill>
                  <a:srgbClr val="45D6C3"/>
                </a:solidFill>
                <a:latin typeface="Segoe UI"/>
              </a:rPr>
              <a:t>Fin</a:t>
            </a:r>
            <a:r>
              <a:rPr b="0" sz="15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3.  </a:t>
            </a:r>
            <a:r>
              <a:rPr b="0" sz="1500">
                <a:solidFill>
                  <a:srgbClr val="F2F5FA"/>
                </a:solidFill>
                <a:latin typeface="Segoe UI"/>
              </a:rPr>
              <a:t>Regresa a </a:t>
            </a:r>
            <a:r>
              <a:rPr b="1" sz="1500">
                <a:solidFill>
                  <a:srgbClr val="45D6C3"/>
                </a:solidFill>
                <a:latin typeface="Segoe UI"/>
              </a:rPr>
              <a:t>Programa Principal</a:t>
            </a:r>
            <a:r>
              <a:rPr b="0" sz="1500">
                <a:solidFill>
                  <a:srgbClr val="F2F5FA"/>
                </a:solidFill>
                <a:latin typeface="Segoe UI"/>
              </a:rPr>
              <a:t> con su pestaña.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>
                <a:solidFill>
                  <a:srgbClr val="F4B740"/>
                </a:solidFill>
                <a:latin typeface="Segoe UI"/>
              </a:rPr>
              <a:t>4.  </a:t>
            </a:r>
            <a:r>
              <a:rPr b="0" sz="1500">
                <a:solidFill>
                  <a:srgbClr val="F2F5FA"/>
                </a:solidFill>
                <a:latin typeface="Segoe UI"/>
              </a:rPr>
              <a:t>Agrega el símbolo </a:t>
            </a:r>
            <a:r>
              <a:rPr b="1" sz="1500">
                <a:solidFill>
                  <a:srgbClr val="45D6C3"/>
                </a:solidFill>
                <a:latin typeface="Segoe UI"/>
              </a:rPr>
              <a:t>Llamar módulo</a:t>
            </a:r>
            <a:r>
              <a:rPr b="0" sz="1500">
                <a:solidFill>
                  <a:srgbClr val="F2F5FA"/>
                </a:solidFill>
                <a:latin typeface="Segoe UI"/>
              </a:rPr>
              <a:t> y elige en la lista el módulo a ejecutar.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120640"/>
            <a:ext cx="5029200" cy="100584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4B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5212079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4B740"/>
                </a:solidFill>
                <a:latin typeface="Consolas"/>
              </a:rPr>
              <a:t>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68112"/>
            <a:ext cx="466344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Las variables se comparten entre módulos: en el ejemplo, </a:t>
            </a:r>
            <a:r>
              <a:rPr b="0" sz="1300">
                <a:solidFill>
                  <a:srgbClr val="F4B740"/>
                </a:solidFill>
                <a:latin typeface="Consolas"/>
              </a:rPr>
              <a:t>Calcular</a:t>
            </a:r>
            <a:r>
              <a:rPr b="0" sz="1300">
                <a:solidFill>
                  <a:srgbClr val="F2F5FA"/>
                </a:solidFill>
                <a:latin typeface="Segoe UI"/>
              </a:rPr>
              <a:t> usa </a:t>
            </a:r>
            <a:r>
              <a:rPr b="0" sz="1300">
                <a:solidFill>
                  <a:srgbClr val="F4B740"/>
                </a:solidFill>
                <a:latin typeface="Consolas"/>
              </a:rPr>
              <a:t>n</a:t>
            </a:r>
            <a:r>
              <a:rPr b="0" sz="1300">
                <a:solidFill>
                  <a:srgbClr val="F2F5FA"/>
                </a:solidFill>
                <a:latin typeface="Segoe UI"/>
              </a:rPr>
              <a:t> y deja listo </a:t>
            </a:r>
            <a:r>
              <a:rPr b="0" sz="1300">
                <a:solidFill>
                  <a:srgbClr val="F4B740"/>
                </a:solidFill>
                <a:latin typeface="Consolas"/>
              </a:rPr>
              <a:t>suma</a:t>
            </a:r>
            <a:r>
              <a:rPr b="0" sz="1300">
                <a:solidFill>
                  <a:srgbClr val="F2F5FA"/>
                </a:solidFill>
                <a:latin typeface="Segoe UI"/>
              </a:rPr>
              <a:t> para imprimir.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PASO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Guarda tu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La página no guarda automáticamente: si la cierras o recargas, se pierde el diagrama.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310896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4846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2200">
                <a:solidFill>
                  <a:srgbClr val="45D6C3"/>
                </a:solidFill>
                <a:latin typeface="Segoe UI"/>
              </a:rPr>
              <a:t>⬇  Exportar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Descarga un archivo </a:t>
            </a:r>
            <a:r>
              <a:rPr b="1" sz="1600">
                <a:solidFill>
                  <a:srgbClr val="45D6C3"/>
                </a:solidFill>
                <a:latin typeface="Segoe UI"/>
              </a:rPr>
              <a:t>.json</a:t>
            </a:r>
            <a:r>
              <a:rPr b="0" sz="1600">
                <a:solidFill>
                  <a:srgbClr val="F2F5FA"/>
                </a:solidFill>
                <a:latin typeface="Segoe UI"/>
              </a:rPr>
              <a:t> con </a:t>
            </a:r>
            <a:r>
              <a:rPr b="1" sz="1600">
                <a:solidFill>
                  <a:srgbClr val="45D6C3"/>
                </a:solidFill>
                <a:latin typeface="Segoe UI"/>
              </a:rPr>
              <a:t>todos</a:t>
            </a:r>
            <a:r>
              <a:rPr b="0" sz="1600">
                <a:solidFill>
                  <a:srgbClr val="F2F5FA"/>
                </a:solidFill>
                <a:latin typeface="Segoe UI"/>
              </a:rPr>
              <a:t> tus módulos.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El nombre incluye tu nombre y la fecha.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Es el archivo que entregas a tu docente.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40680" cy="310896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F4B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8463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2200">
                <a:solidFill>
                  <a:srgbClr val="F4B740"/>
                </a:solidFill>
                <a:latin typeface="Segoe UI"/>
              </a:rPr>
              <a:t>⬆  Importar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Abre un archivo </a:t>
            </a:r>
            <a:r>
              <a:rPr b="1" sz="1600">
                <a:solidFill>
                  <a:srgbClr val="45D6C3"/>
                </a:solidFill>
                <a:latin typeface="Segoe UI"/>
              </a:rPr>
              <a:t>.json</a:t>
            </a:r>
            <a:r>
              <a:rPr b="0" sz="1600">
                <a:solidFill>
                  <a:srgbClr val="F2F5FA"/>
                </a:solidFill>
                <a:latin typeface="Segoe UI"/>
              </a:rPr>
              <a:t> exportado antes.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Recupera tu diagrama para seguir trabajando.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Solo acepta archivos creados por esta herramienta.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2555A"/>
                </a:solidFill>
                <a:latin typeface="Consolas"/>
              </a:rPr>
              <a:t>IMPORTANTE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5955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Exporta con frecuencia, sobre todo antes de cerrar el navegador o apagar el equipo.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Tu progreso: XP, niveles e insignias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1513604"/>
            <a:ext cx="4297679" cy="2459190"/>
          </a:xfrm>
          <a:prstGeom prst="roundRect">
            <a:avLst>
              <a:gd name="adj" fmla="val 2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9324"/>
            <a:ext cx="4206240" cy="2367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1463040"/>
            <a:ext cx="6492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Cada vez que tu programa pasa la verificación ganas </a:t>
            </a:r>
            <a:r>
              <a:rPr b="1" sz="1600">
                <a:solidFill>
                  <a:srgbClr val="45D6C3"/>
                </a:solidFill>
                <a:latin typeface="Segoe UI"/>
              </a:rPr>
              <a:t>+10 XP</a:t>
            </a:r>
            <a:r>
              <a:rPr b="0" sz="16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45D6C3"/>
                </a:solidFill>
                <a:latin typeface="Segoe UI"/>
              </a:rPr>
              <a:t>•  </a:t>
            </a:r>
            <a:r>
              <a:rPr b="0" sz="1600">
                <a:solidFill>
                  <a:srgbClr val="F2F5FA"/>
                </a:solidFill>
                <a:latin typeface="Segoe UI"/>
              </a:rPr>
              <a:t>Tu nivel y tus insignias se muestran debajo de los botones de prueba.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0" y="2834640"/>
          <a:ext cx="6492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31089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B740"/>
                          </a:solidFill>
                          <a:latin typeface="Segoe UI"/>
                        </a:rPr>
                        <a:t>Requisito</a:t>
                      </a:r>
                    </a:p>
                  </a:txBody>
                  <a:tcPr>
                    <a:solidFill>
                      <a:srgbClr val="26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B740"/>
                          </a:solidFill>
                          <a:latin typeface="Segoe UI"/>
                        </a:rPr>
                        <a:t>Nivel</a:t>
                      </a:r>
                    </a:p>
                  </a:txBody>
                  <a:tcPr>
                    <a:solidFill>
                      <a:srgbClr val="2633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B740"/>
                          </a:solidFill>
                          <a:latin typeface="Segoe UI"/>
                        </a:rPr>
                        <a:t>Insignia</a:t>
                      </a:r>
                    </a:p>
                  </a:txBody>
                  <a:tcPr>
                    <a:solidFill>
                      <a:srgbClr val="26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0 XP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Aprendiz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10 XP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Aprendiz+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★ Aprendiz de la Lógica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30 XP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Constructor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★ Constructor de Algoritmos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60 XP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Maestro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★ Maestro del Pseudocódigo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2+ módulos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5FA"/>
                          </a:solidFill>
                          <a:latin typeface="Segoe UI"/>
                        </a:rPr>
                        <a:t>★ Arquitecto Modular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29768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9A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9AA8C7"/>
                </a:solidFill>
                <a:latin typeface="Consolas"/>
              </a:rPr>
              <a:t>NOTA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3840479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Al recargar la página el XP vuelve a 0, pero se guarda en tu archivo al </a:t>
            </a:r>
            <a:r>
              <a:rPr b="1" sz="1300">
                <a:solidFill>
                  <a:srgbClr val="45D6C3"/>
                </a:solidFill>
                <a:latin typeface="Segoe UI"/>
              </a:rPr>
              <a:t>Exportar</a:t>
            </a:r>
            <a:r>
              <a:rPr b="0" sz="1300">
                <a:solidFill>
                  <a:srgbClr val="F2F5FA"/>
                </a:solidFill>
                <a:latin typeface="Segoe UI"/>
              </a:rPr>
              <a:t> y se recupera al </a:t>
            </a:r>
            <a:r>
              <a:rPr b="1" sz="1300">
                <a:solidFill>
                  <a:srgbClr val="45D6C3"/>
                </a:solidFill>
                <a:latin typeface="Segoe UI"/>
              </a:rPr>
              <a:t>Importar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PARA DOCENTES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Gestionar alumnos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>
                <a:solidFill>
                  <a:srgbClr val="9AA8C7"/>
                </a:solidFill>
                <a:latin typeface="Segoe UI"/>
              </a:rPr>
              <a:t>Compara rápidamente los diagramas entregados por tu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1.  </a:t>
            </a:r>
            <a:r>
              <a:rPr b="0" sz="1600">
                <a:solidFill>
                  <a:srgbClr val="F2F5FA"/>
                </a:solidFill>
                <a:latin typeface="Segoe UI"/>
              </a:rPr>
              <a:t>Toca </a:t>
            </a:r>
            <a:r>
              <a:rPr b="1" sz="1600">
                <a:solidFill>
                  <a:srgbClr val="45D6C3"/>
                </a:solidFill>
                <a:latin typeface="Segoe UI"/>
              </a:rPr>
              <a:t>👥 Gestionar alumnos</a:t>
            </a:r>
            <a:r>
              <a:rPr b="0" sz="1600">
                <a:solidFill>
                  <a:srgbClr val="F2F5FA"/>
                </a:solidFill>
                <a:latin typeface="Segoe UI"/>
              </a:rPr>
              <a:t> (arriba a la derecha).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2.  </a:t>
            </a:r>
            <a:r>
              <a:rPr b="0" sz="1600">
                <a:solidFill>
                  <a:srgbClr val="F2F5FA"/>
                </a:solidFill>
                <a:latin typeface="Segoe UI"/>
              </a:rPr>
              <a:t>Toca </a:t>
            </a:r>
            <a:r>
              <a:rPr b="1" sz="1600">
                <a:solidFill>
                  <a:srgbClr val="45D6C3"/>
                </a:solidFill>
                <a:latin typeface="Segoe UI"/>
              </a:rPr>
              <a:t>⬆ Importar diagramas de alumnos</a:t>
            </a:r>
            <a:r>
              <a:rPr b="0" sz="1600">
                <a:solidFill>
                  <a:srgbClr val="F2F5FA"/>
                </a:solidFill>
                <a:latin typeface="Segoe UI"/>
              </a:rPr>
              <a:t> y selecciona uno o </a:t>
            </a:r>
            <a:r>
              <a:rPr b="1" sz="1600">
                <a:solidFill>
                  <a:srgbClr val="45D6C3"/>
                </a:solidFill>
                <a:latin typeface="Segoe UI"/>
              </a:rPr>
              <a:t>varios</a:t>
            </a:r>
            <a:r>
              <a:rPr b="0" sz="1600">
                <a:solidFill>
                  <a:srgbClr val="F2F5FA"/>
                </a:solidFill>
                <a:latin typeface="Segoe UI"/>
              </a:rPr>
              <a:t> archivos .json.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3.  </a:t>
            </a:r>
            <a:r>
              <a:rPr b="0" sz="1600">
                <a:solidFill>
                  <a:srgbClr val="F2F5FA"/>
                </a:solidFill>
                <a:latin typeface="Segoe UI"/>
              </a:rPr>
              <a:t>Se muestra una tabla con: alumno, fecha, módulos, si es válido, XP y </a:t>
            </a:r>
            <a:r>
              <a:rPr b="1" sz="1600">
                <a:solidFill>
                  <a:srgbClr val="45D6C3"/>
                </a:solidFill>
                <a:latin typeface="Segoe UI"/>
              </a:rPr>
              <a:t>nivel de razonamiento lógico</a:t>
            </a:r>
            <a:r>
              <a:rPr b="0" sz="1600">
                <a:solidFill>
                  <a:srgbClr val="F2F5FA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F4B740"/>
                </a:solidFill>
                <a:latin typeface="Segoe UI"/>
              </a:rPr>
              <a:t>4.  </a:t>
            </a:r>
            <a:r>
              <a:rPr b="0" sz="1600">
                <a:solidFill>
                  <a:srgbClr val="F2F5FA"/>
                </a:solidFill>
                <a:latin typeface="Segoe UI"/>
              </a:rPr>
              <a:t>Toca </a:t>
            </a:r>
            <a:r>
              <a:rPr b="1" sz="1600">
                <a:solidFill>
                  <a:srgbClr val="45D6C3"/>
                </a:solidFill>
                <a:latin typeface="Segoe UI"/>
              </a:rPr>
              <a:t>⬇ Exportar resumen (CSV)</a:t>
            </a:r>
            <a:r>
              <a:rPr b="0" sz="1600">
                <a:solidFill>
                  <a:srgbClr val="F2F5FA"/>
                </a:solidFill>
                <a:latin typeface="Segoe UI"/>
              </a:rPr>
              <a:t> para abrir los resultados en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783080"/>
            <a:ext cx="4663440" cy="3108960"/>
          </a:xfrm>
          <a:prstGeom prst="roundRect">
            <a:avLst>
              <a:gd name="adj" fmla="val 5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NIVEL DE RAZONAMIENTO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377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9A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377440"/>
            <a:ext cx="1371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1300">
                <a:solidFill>
                  <a:srgbClr val="0B1120"/>
                </a:solidFill>
                <a:latin typeface="Segoe UI"/>
              </a:rPr>
              <a:t>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331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F2F5FA"/>
                </a:solidFill>
                <a:latin typeface="Segoe UI"/>
              </a:rPr>
              <a:t>Solo usa secuencia.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54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154680"/>
            <a:ext cx="1371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1300">
                <a:solidFill>
                  <a:srgbClr val="0B1120"/>
                </a:solidFill>
                <a:latin typeface="Segoe UI"/>
              </a:rPr>
              <a:t>Intermedio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10896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F2F5FA"/>
                </a:solidFill>
                <a:latin typeface="Segoe UI"/>
              </a:rPr>
              <a:t>Usa condicionales o ciclos.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931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931920"/>
            <a:ext cx="1371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1300">
                <a:solidFill>
                  <a:srgbClr val="0B1120"/>
                </a:solidFill>
                <a:latin typeface="Segoe UI"/>
              </a:rPr>
              <a:t>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8620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F2F5FA"/>
                </a:solidFill>
                <a:latin typeface="Segoe UI"/>
              </a:rPr>
              <a:t>Los anida, usa arreglos/matrices o varios módulos con llamadas.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5074920"/>
            <a:ext cx="4663440" cy="1097280"/>
          </a:xfrm>
          <a:prstGeom prst="roundRect">
            <a:avLst>
              <a:gd name="adj" fmla="val 12000"/>
            </a:avLst>
          </a:prstGeom>
          <a:solidFill>
            <a:srgbClr val="131C33"/>
          </a:solidFill>
          <a:ln w="15875">
            <a:solidFill>
              <a:srgbClr val="F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5166359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00">
                <a:solidFill>
                  <a:srgbClr val="F2555A"/>
                </a:solidFill>
                <a:latin typeface="Consolas"/>
              </a:rPr>
              <a:t>IMPORTANTE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422392"/>
            <a:ext cx="429767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La lista de alumnos es solo de la sesión: descarga el CSV antes de cerrar.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200">
                <a:solidFill>
                  <a:srgbClr val="F4B740"/>
                </a:solidFill>
                <a:latin typeface="Consolas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3000">
                <a:solidFill>
                  <a:srgbClr val="F2F5FA"/>
                </a:solidFill>
                <a:latin typeface="Segoe UI"/>
              </a:rPr>
              <a:t>Consejos y errores comunes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>
                <a:solidFill>
                  <a:srgbClr val="9AA8C7"/>
                </a:solidFill>
                <a:latin typeface="Consolas"/>
              </a:rPr>
              <a:t>Constructor Lógico · Modular — Manual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"Debe terminar con Fin"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Agrega el símbolo </a:t>
            </a:r>
            <a:r>
              <a:rPr b="1" sz="1300">
                <a:solidFill>
                  <a:srgbClr val="45D6C3"/>
                </a:solidFill>
                <a:latin typeface="Segoe UI"/>
              </a:rPr>
              <a:t>Fin</a:t>
            </a:r>
            <a:r>
              <a:rPr b="0" sz="1300">
                <a:solidFill>
                  <a:srgbClr val="F2F5FA"/>
                </a:solidFill>
                <a:latin typeface="Segoe UI"/>
              </a:rPr>
              <a:t> al final de la secuencia principal del módulo.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"Símbolo(s) sin descripción"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Busca figuras con la línea punteada vacía y escribe su contenido.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El símbolo apareció en otro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Revisa el recuadro </a:t>
            </a:r>
            <a:r>
              <a:rPr b="1" sz="1300">
                <a:solidFill>
                  <a:srgbClr val="45D6C3"/>
                </a:solidFill>
                <a:latin typeface="Segoe UI"/>
              </a:rPr>
              <a:t>Agregando en:</a:t>
            </a:r>
            <a:r>
              <a:rPr b="0" sz="1300">
                <a:solidFill>
                  <a:srgbClr val="F2F5FA"/>
                </a:solidFill>
                <a:latin typeface="Segoe UI"/>
              </a:rPr>
              <a:t> y toca el lugar correcto antes de agregar.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"Llamar módulo" no se agrega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Primero crea otro módulo con </a:t>
            </a:r>
            <a:r>
              <a:rPr b="1" sz="1300">
                <a:solidFill>
                  <a:srgbClr val="45D6C3"/>
                </a:solidFill>
                <a:latin typeface="Segoe UI"/>
              </a:rPr>
              <a:t>+ nuevo módulo</a:t>
            </a:r>
            <a:r>
              <a:rPr b="0" sz="1300">
                <a:solidFill>
                  <a:srgbClr val="F2F5FA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Límite de iteraciones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Tu ciclo no termina: revisa que la variable de control cambie dentro del cuerpo.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31C33"/>
          </a:solidFill>
          <a:ln w="15875">
            <a:solidFill>
              <a:srgbClr val="26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500">
                <a:solidFill>
                  <a:srgbClr val="F4B740"/>
                </a:solidFill>
                <a:latin typeface="Segoe UI"/>
              </a:rPr>
              <a:t>Perdí mi diagrama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74920"/>
            <a:ext cx="5029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>
                <a:solidFill>
                  <a:srgbClr val="F2F5FA"/>
                </a:solidFill>
                <a:latin typeface="Segoe UI"/>
              </a:rPr>
              <a:t>La página no guarda sola. Usa </a:t>
            </a:r>
            <a:r>
              <a:rPr b="1" sz="1300">
                <a:solidFill>
                  <a:srgbClr val="45D6C3"/>
                </a:solidFill>
                <a:latin typeface="Segoe UI"/>
              </a:rPr>
              <a:t>Exportar</a:t>
            </a:r>
            <a:r>
              <a:rPr b="0" sz="1300">
                <a:solidFill>
                  <a:srgbClr val="F2F5FA"/>
                </a:solidFill>
                <a:latin typeface="Segoe UI"/>
              </a:rPr>
              <a:t> seguido y </a:t>
            </a:r>
            <a:r>
              <a:rPr b="1" sz="1300">
                <a:solidFill>
                  <a:srgbClr val="45D6C3"/>
                </a:solidFill>
                <a:latin typeface="Segoe UI"/>
              </a:rPr>
              <a:t>Importar</a:t>
            </a:r>
            <a:r>
              <a:rPr b="0" sz="1300">
                <a:solidFill>
                  <a:srgbClr val="F2F5FA"/>
                </a:solidFill>
                <a:latin typeface="Segoe UI"/>
              </a:rPr>
              <a:t> para recuperarlo.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400">
                <a:solidFill>
                  <a:srgbClr val="F2F5FA"/>
                </a:solidFill>
                <a:latin typeface="Segoe UI"/>
              </a:rPr>
              <a:t>¡A construir algoritmos!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800">
                <a:solidFill>
                  <a:srgbClr val="9AA8C7"/>
                </a:solidFill>
                <a:latin typeface="Consolas"/>
              </a:rPr>
              <a:t>Inicio → Leer → Proceso y D.V. → Imprimir → Fin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4206240"/>
            <a:ext cx="5971032" cy="594360"/>
          </a:xfrm>
          <a:prstGeom prst="roundRect">
            <a:avLst>
              <a:gd name="adj" fmla="val 30000"/>
            </a:avLst>
          </a:prstGeom>
          <a:solidFill>
            <a:srgbClr val="131C33"/>
          </a:solidFill>
          <a:ln w="15875">
            <a:solidFill>
              <a:srgbClr val="45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4206240"/>
            <a:ext cx="5971032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1700">
                <a:solidFill>
                  <a:srgbClr val="45D6C3"/>
                </a:solidFill>
                <a:latin typeface="Consolas"/>
              </a:rPr>
              <a:t>https://elsiaes79.github.io/Constructor-logico/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